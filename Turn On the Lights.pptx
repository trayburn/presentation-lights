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1"/>
    <p:restoredTop sz="94726"/>
  </p:normalViewPr>
  <p:slideViewPr>
    <p:cSldViewPr snapToGrid="0">
      <p:cViewPr varScale="1">
        <p:scale>
          <a:sx n="120" d="100"/>
          <a:sy n="120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A4034-97B6-DB44-BB1A-9D7252350C20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F839A-22A4-7C44-A9C0-82ED055B2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02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ncip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rectangle&#10;&#10;Description automatically generated with medium confidence">
            <a:extLst>
              <a:ext uri="{FF2B5EF4-FFF2-40B4-BE49-F238E27FC236}">
                <a16:creationId xmlns:a16="http://schemas.microsoft.com/office/drawing/2014/main" id="{BE88C6CA-F385-3E1E-CFB9-B68BBE974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6B8D9B-1FBE-987A-28BE-4AF3449CC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1822" y="3234055"/>
            <a:ext cx="9144000" cy="631296"/>
          </a:xfrm>
        </p:spPr>
        <p:txBody>
          <a:bodyPr anchor="b">
            <a:normAutofit/>
          </a:bodyPr>
          <a:lstStyle>
            <a:lvl1pPr algn="l">
              <a:defRPr sz="2800" b="1" i="0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6A678-285D-C74C-A3AB-61F33055C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276" y="3966478"/>
            <a:ext cx="9144000" cy="5283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DFF4E328-04ED-1D34-5362-6AC1FF0DA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22" y="1681203"/>
            <a:ext cx="3227632" cy="1434503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8FB2F36-F96E-DBFB-4387-CD5A0571802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519063" y="5462195"/>
            <a:ext cx="4155093" cy="6831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1" i="0">
                <a:solidFill>
                  <a:srgbClr val="005596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JOHN DOE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A1D465-B636-AD01-A485-0C126BD591CE}"/>
              </a:ext>
            </a:extLst>
          </p:cNvPr>
          <p:cNvSpPr txBox="1"/>
          <p:nvPr/>
        </p:nvSpPr>
        <p:spPr>
          <a:xfrm>
            <a:off x="3821288" y="6494624"/>
            <a:ext cx="454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0" dirty="0">
                <a:solidFill>
                  <a:schemeClr val="bg1">
                    <a:alpha val="27925"/>
                  </a:schemeClr>
                </a:solidFill>
                <a:effectLst/>
                <a:latin typeface="Khula" panose="02000000000000000000" pitchFamily="2" charset="0"/>
                <a:cs typeface="Khula" panose="02000000000000000000" pitchFamily="2" charset="0"/>
              </a:rPr>
              <a:t>© 2026 Improving. All Rights Reserved.</a:t>
            </a:r>
            <a:endParaRPr lang="en-MX" sz="900" dirty="0">
              <a:solidFill>
                <a:schemeClr val="bg1">
                  <a:alpha val="27925"/>
                </a:schemeClr>
              </a:solidFill>
              <a:latin typeface="Khula" panose="02000000000000000000" pitchFamily="2" charset="0"/>
              <a:cs typeface="Khula" panose="02000000000000000000" pitchFamily="2" charset="0"/>
            </a:endParaRPr>
          </a:p>
          <a:p>
            <a:endParaRPr lang="en-MX" sz="900" dirty="0">
              <a:solidFill>
                <a:schemeClr val="bg1">
                  <a:alpha val="27925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772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t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8263D1B3-4C39-678E-AA0B-70DFC0302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5A03D7-0C8A-2FF8-DD55-E44EF7754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13" y="2933878"/>
            <a:ext cx="10515600" cy="50800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6160FDB-07E2-9B48-493B-80748EBAF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913" y="3429000"/>
            <a:ext cx="9144000" cy="5283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816152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11205668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EAA4B5E-3525-86D1-43B2-EEF957A6A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DB217A-F6B3-74AC-D9F2-0EF851F488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1885244"/>
            <a:ext cx="11206162" cy="399961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latin typeface="Khula" panose="02000000000000000000" pitchFamily="2" charset="0"/>
                <a:cs typeface="Khula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772F0C-A603-1AAE-F130-CB75D94E66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33920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11255022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EAA4B5E-3525-86D1-43B2-EEF957A6A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3EDE8-942A-C67F-DE1C-BE6A4B25F94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489" y="1744134"/>
            <a:ext cx="5394960" cy="41944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74CE37E-4F1A-62C7-ADCA-33781ABD66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79197" y="1743240"/>
            <a:ext cx="5394960" cy="41944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E8B51DB-C770-DED1-2745-73661B76F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933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EAA4B5E-3525-86D1-43B2-EEF957A6A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F39C3A6-20B8-E520-FD58-D3159B183363}"/>
              </a:ext>
            </a:extLst>
          </p:cNvPr>
          <p:cNvSpPr/>
          <p:nvPr/>
        </p:nvSpPr>
        <p:spPr>
          <a:xfrm>
            <a:off x="0" y="28752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489" y="434446"/>
            <a:ext cx="5394960" cy="667808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 </a:t>
            </a:r>
            <a:endParaRPr lang="en-MX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3EDE8-942A-C67F-DE1C-BE6A4B25F94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489" y="1744134"/>
            <a:ext cx="5394960" cy="41944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4170EE8-1B21-9049-E4EE-81A26AE39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4021" y="6195922"/>
            <a:ext cx="1424984" cy="633326"/>
          </a:xfrm>
          <a:prstGeom prst="rect">
            <a:avLst/>
          </a:prstGeom>
        </p:spPr>
      </p:pic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04707B3-A605-AC35-40E1-667264FF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62336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1CCC47-BB7F-A202-18E6-8BD949EC098C}"/>
              </a:ext>
            </a:extLst>
          </p:cNvPr>
          <p:cNvSpPr/>
          <p:nvPr/>
        </p:nvSpPr>
        <p:spPr>
          <a:xfrm>
            <a:off x="0" y="8555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6924B258-2A0C-8861-A9F9-CCAC38082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021" y="6195922"/>
            <a:ext cx="1424984" cy="6333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6405" y="434446"/>
            <a:ext cx="5527106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74CE37E-4F1A-62C7-ADCA-33781ABD66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79197" y="1548588"/>
            <a:ext cx="5394960" cy="438912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DDCA529-E988-9621-FBE7-7DFBDAC06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6405" y="1078443"/>
            <a:ext cx="5522600" cy="423862"/>
          </a:xfrm>
        </p:spPr>
        <p:txBody>
          <a:bodyPr>
            <a:normAutofit/>
          </a:bodyPr>
          <a:lstStyle>
            <a:lvl1pPr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52467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shape&#10;&#10;Description automatically generated">
            <a:extLst>
              <a:ext uri="{FF2B5EF4-FFF2-40B4-BE49-F238E27FC236}">
                <a16:creationId xmlns:a16="http://schemas.microsoft.com/office/drawing/2014/main" id="{67254B57-7D3C-B80E-6390-803809FF6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027" y="1240897"/>
            <a:ext cx="6709101" cy="5171898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FBDAFC67-98EC-38E5-D42A-6AD12DFB7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CB4A5C-DF63-8836-72EC-68379B22B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5328" y="1240897"/>
            <a:ext cx="4271447" cy="594431"/>
          </a:xfrm>
        </p:spPr>
        <p:txBody>
          <a:bodyPr>
            <a:normAutofit/>
          </a:bodyPr>
          <a:lstStyle>
            <a:lvl1pPr algn="r">
              <a:defRPr sz="3200" b="1" i="0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John Doe</a:t>
            </a:r>
            <a:endParaRPr lang="en-MX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A30456-AA2D-3271-9115-D02FEF5AE2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14813" y="2009775"/>
            <a:ext cx="4271447" cy="2587625"/>
          </a:xfrm>
        </p:spPr>
        <p:txBody>
          <a:bodyPr>
            <a:normAutofit/>
          </a:bodyPr>
          <a:lstStyle>
            <a:lvl1pPr algn="ctr">
              <a:defRPr sz="2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7026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 with low confidence">
            <a:extLst>
              <a:ext uri="{FF2B5EF4-FFF2-40B4-BE49-F238E27FC236}">
                <a16:creationId xmlns:a16="http://schemas.microsoft.com/office/drawing/2014/main" id="{2997DA69-4CDE-50A1-AFCA-66FEB7422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79" y="1720651"/>
            <a:ext cx="11458444" cy="17083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D562C5F-11BC-838C-96DD-BF84E16B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600096-BCC5-7230-A89B-E520E506A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360" y="3429000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3519CD5-9C94-88A6-83D9-6BD86A1B3D56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036009" y="3429000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471196B-D805-6FD9-C3D1-2EA90F002AA1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9631194" y="3429000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90F7055-6F36-C99A-66DE-47123AF2BF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05269" y="2339814"/>
            <a:ext cx="708378" cy="6409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4514C5E-AD10-540E-4124-EF0FB6341F9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867234" y="2339814"/>
            <a:ext cx="708378" cy="6409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B270200-8E34-DBA3-0E5F-541E3CFC8E3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0587152" y="2245685"/>
            <a:ext cx="708378" cy="6409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03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707FDABF-1499-C8ED-1211-B266C03BA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D992D7D-9B11-EAF8-2BFF-D0C68BFB20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31349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2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8B4BFC0-5F41-F0CD-41C1-89DD22A4B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8A22F27-9D7B-C6E5-5AEE-45A8127F8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5675" y="1928813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D1BCEA-C3F0-C467-A5F4-3E70D00760A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465675" y="4040002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5AF7E3C-6319-3513-11F9-ED070800395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019311" y="1928813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9902DF3-A8F6-0F9C-63E4-C605347FF64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19311" y="4040002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6E59B898-2348-448A-E91C-826978FAD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43DC5F3-7C9B-C24F-9FC0-5474F1C4B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590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A3F71C3-C9CF-C020-3DA7-42C0516B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F726CEF-56A7-FFEA-7D5C-C57FE809D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27124" y="2972373"/>
            <a:ext cx="3034553" cy="11033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z="140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73EAE6-94EC-ACBC-E2C1-90D4971849C7}"/>
              </a:ext>
            </a:extLst>
          </p:cNvPr>
          <p:cNvCxnSpPr/>
          <p:nvPr/>
        </p:nvCxnSpPr>
        <p:spPr>
          <a:xfrm>
            <a:off x="5755341" y="2738904"/>
            <a:ext cx="0" cy="157030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12DFF03C-496A-CF14-7E80-D1EF5809D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961031C-CBB7-C46D-3F69-E8FA9C56BC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67087" y="2738903"/>
            <a:ext cx="2119267" cy="15703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06522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F94E-5EC9-EDBD-17A2-64005DA3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804677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BCFBC-7ACB-EB41-9491-990B7A310D5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2854"/>
                </a:solidFill>
                <a:latin typeface="Segoe UI"/>
                <a:cs typeface="Segoe UI"/>
              </a:defRPr>
            </a:lvl1pPr>
          </a:lstStyle>
          <a:p>
            <a:fld id="{7A147545-00EF-7D45-913E-24591ED32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00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D900A-3A53-67EB-D54A-5F232E8B9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8798C-5E7E-ABC0-4AC1-DAED6CC6F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20760-7FFE-9CCF-CE96-537B22EA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CFBC-7ACB-EB41-9491-990B7A310D5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96EC8-FD87-FE20-6BDC-F25D24C4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B7E71-5ABB-169C-DF3F-EF468F458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47545-00EF-7D45-913E-24591ED32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11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285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 with medium confidence">
            <a:extLst>
              <a:ext uri="{FF2B5EF4-FFF2-40B4-BE49-F238E27FC236}">
                <a16:creationId xmlns:a16="http://schemas.microsoft.com/office/drawing/2014/main" id="{927A4B59-C598-90D6-EB86-6CEB76A2655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94717D-6E54-D547-934B-958044D27E5A}"/>
              </a:ext>
            </a:extLst>
          </p:cNvPr>
          <p:cNvSpPr txBox="1"/>
          <p:nvPr/>
        </p:nvSpPr>
        <p:spPr>
          <a:xfrm>
            <a:off x="826911" y="6479823"/>
            <a:ext cx="572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3BB742A-9951-4A41-9B51-4F6023B7AEA7}" type="slidenum">
              <a:rPr lang="en-MX" sz="1200" b="1" i="0" smtClean="0">
                <a:solidFill>
                  <a:schemeClr val="bg1"/>
                </a:solidFill>
                <a:latin typeface="Khula SemiBold" panose="02000000000000000000" pitchFamily="2" charset="0"/>
                <a:cs typeface="Khula SemiBold" panose="02000000000000000000" pitchFamily="2" charset="0"/>
              </a:rPr>
              <a:t>‹#›</a:t>
            </a:fld>
            <a:endParaRPr lang="en-MX" sz="1200" b="1" i="0">
              <a:solidFill>
                <a:schemeClr val="bg1"/>
              </a:solidFill>
              <a:latin typeface="Khula SemiBold" panose="02000000000000000000" pitchFamily="2" charset="0"/>
              <a:cs typeface="Khula SemiBold" panose="02000000000000000000" pitchFamily="2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0EBC7-ADE3-F209-E554-2D41BB8D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2D941F-3EA9-5B81-108F-188A61A1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0816"/>
            <a:ext cx="10515600" cy="4897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EFB8A-C4F3-4807-CC33-3413956FB7A6}"/>
              </a:ext>
            </a:extLst>
          </p:cNvPr>
          <p:cNvSpPr txBox="1"/>
          <p:nvPr/>
        </p:nvSpPr>
        <p:spPr>
          <a:xfrm>
            <a:off x="3821288" y="6494624"/>
            <a:ext cx="454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0" dirty="0">
                <a:solidFill>
                  <a:schemeClr val="bg1">
                    <a:alpha val="27925"/>
                  </a:schemeClr>
                </a:solidFill>
                <a:effectLst/>
                <a:latin typeface="Khula" panose="02000000000000000000" pitchFamily="2" charset="0"/>
                <a:cs typeface="Khula" panose="02000000000000000000" pitchFamily="2" charset="0"/>
              </a:rPr>
              <a:t>© 2026  Improving. All Rights Reserved.</a:t>
            </a:r>
            <a:endParaRPr lang="en-MX" sz="900" dirty="0">
              <a:solidFill>
                <a:schemeClr val="bg1">
                  <a:alpha val="27925"/>
                </a:schemeClr>
              </a:solidFill>
              <a:latin typeface="Khula" panose="02000000000000000000" pitchFamily="2" charset="0"/>
              <a:cs typeface="Khula" panose="02000000000000000000" pitchFamily="2" charset="0"/>
            </a:endParaRPr>
          </a:p>
          <a:p>
            <a:endParaRPr lang="en-MX" sz="900" dirty="0">
              <a:solidFill>
                <a:schemeClr val="bg1">
                  <a:alpha val="27925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447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5596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1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05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Turn On the Lights:
The Real Future of Software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Tim Rayburn  |  VP at Improving  |  11-Time Microsoft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Part 1: The Tuesday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The vague menace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You Wake Up on a Tuesday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Somebody launched “Insert Idea, Get Software” The Tool™</a:t>
            </a:r>
          </a:p>
          <a:p>
            <a:r>
              <a:rPr sz="2400" dirty="0"/>
              <a:t>You feel it in your gut — this is it</a:t>
            </a:r>
          </a:p>
          <a:p>
            <a:r>
              <a:rPr sz="2400" dirty="0"/>
              <a:t>Not because you can explain the technical path</a:t>
            </a:r>
          </a:p>
          <a:p>
            <a:r>
              <a:rPr sz="2400" dirty="0"/>
              <a:t>Not because you’ve read the research</a:t>
            </a:r>
          </a:p>
          <a:p>
            <a:r>
              <a:rPr sz="2400" dirty="0"/>
              <a:t>Because the AI Media Machine has been screaming at you for two years</a:t>
            </a:r>
          </a:p>
          <a:p>
            <a:endParaRPr sz="2400" dirty="0"/>
          </a:p>
          <a:p>
            <a:r>
              <a:rPr sz="2400" dirty="0"/>
              <a:t>“The vague menace is the most effective kind. You can’t argue with it. You can’t prepare for it. You can only dread it.”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Fear Is Rational As a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General-purpose technologies DO reshape labor — Steam, Electricity, the Internet</a:t>
            </a:r>
          </a:p>
          <a:p>
            <a:r>
              <a:rPr sz="2400" dirty="0"/>
              <a:t>The category of fear is real. The question is whether the specific monster matches the actual threat.</a:t>
            </a:r>
          </a:p>
          <a:p>
            <a:endParaRPr sz="2400" dirty="0"/>
          </a:p>
          <a:p>
            <a:r>
              <a:rPr sz="2400" dirty="0"/>
              <a:t>The commercial interest in your anxiety:</a:t>
            </a:r>
          </a:p>
          <a:p>
            <a:pPr lvl="1"/>
            <a:r>
              <a:rPr sz="2400" dirty="0"/>
              <a:t>The loudest forecasters — Goldman Sachs, McKinsey — also sell AI services</a:t>
            </a:r>
          </a:p>
          <a:p>
            <a:pPr lvl="1"/>
            <a:r>
              <a:rPr sz="2400" dirty="0"/>
              <a:t>70 years of tech predictions share the same five structural errors</a:t>
            </a:r>
          </a:p>
          <a:p>
            <a:pPr lvl="1"/>
            <a:r>
              <a:rPr sz="2400" dirty="0"/>
              <a:t>Empirical base case: 0.5–1.0% added annual productivity</a:t>
            </a:r>
          </a:p>
          <a:p>
            <a:pPr lvl="1"/>
            <a:r>
              <a:rPr sz="2400" dirty="0"/>
              <a:t>Not an extinction event. But not nothing either.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Tim Rayburn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 wrap="square">
            <a:noAutofit/>
          </a:bodyPr>
          <a:lstStyle/>
          <a:p>
            <a:r>
              <a:rPr sz="2000" dirty="0"/>
              <a:t>“Tonight I want to turn on the lights. Not to tell you the monster isn’t real — it is. Not to tell you everything is fine — it isn’t entirely. But to show you the actual shape of the thing. Because the real answer to the Tuesday you’re dreading is: it looks nothing like what you imagine. And that difference matters enormously for what you do next.”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Part 2: Turn On the Lights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Three lights. Three specific shapes. One actual monster.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Light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The Hidden Dependency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Confirm the Strength — Don’t Minimize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SWE-bench: top models now resolve problems that required a competent software engineer two years ago</a:t>
            </a:r>
          </a:p>
          <a:p>
            <a:r>
              <a:rPr sz="2400" dirty="0"/>
              <a:t>Linear platform data (March 2026): coding agents in 75%+ of enterprise workspaces; agent work grew 5x in 3 months; agents authored ~25% of new issues</a:t>
            </a:r>
          </a:p>
          <a:p>
            <a:r>
              <a:rPr sz="2400" dirty="0"/>
              <a:t>Project Societas (Microsoft Azure): 7 part-time senior engineers, 110,000 lines of code, 10 weeks, 98% AI-generated</a:t>
            </a:r>
          </a:p>
          <a:p>
            <a:endParaRPr sz="2400" dirty="0"/>
          </a:p>
          <a:p>
            <a:r>
              <a:rPr sz="2400" dirty="0"/>
              <a:t>“If your value proposition is ‘I write syntactically correct code in known patterns,’ that value proposition is under pressure. We should be honest about that.”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Pipeline Nobody Draws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177540"/>
            <a:ext cx="2011680" cy="77724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oppins"/>
              </a:rPr>
              <a:t>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3177540"/>
            <a:ext cx="2011680" cy="77724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oppins"/>
              </a:rPr>
              <a:t>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83380"/>
            <a:ext cx="944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5596"/>
                </a:solidFill>
                <a:latin typeface="Poppins"/>
              </a:rPr>
              <a:t>What fills the arrow?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65ED9007-E228-C445-5E3F-F30A80F93295}"/>
              </a:ext>
            </a:extLst>
          </p:cNvPr>
          <p:cNvSpPr/>
          <p:nvPr/>
        </p:nvSpPr>
        <p:spPr>
          <a:xfrm>
            <a:off x="2943446" y="3079720"/>
            <a:ext cx="6305107" cy="9728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What Actually Fills the Arrow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038600" y="1280160"/>
            <a:ext cx="4114800" cy="53035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oppins"/>
              </a:rPr>
              <a:t>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6059424" y="1810512"/>
            <a:ext cx="73152" cy="164592"/>
          </a:xfrm>
          <a:prstGeom prst="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38600" y="1975104"/>
            <a:ext cx="4114800" cy="53035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oppins"/>
              </a:rPr>
              <a:t>Domain Translation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6280" y="2066544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58595A"/>
                </a:solidFill>
                <a:latin typeface="Khula"/>
              </a:rPr>
              <a:t>What does this business actually need?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6059424" y="2505456"/>
            <a:ext cx="73152" cy="164592"/>
          </a:xfrm>
          <a:prstGeom prst="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38600" y="2670048"/>
            <a:ext cx="4114800" cy="53035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oppins"/>
              </a:rPr>
              <a:t>Precise Specification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6280" y="2618161"/>
            <a:ext cx="411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58595A"/>
                </a:solidFill>
                <a:latin typeface="Khula"/>
              </a:rPr>
              <a:t>Rule out wrong implementations —</a:t>
            </a:r>
            <a:br>
              <a:rPr lang="en-US" b="0" dirty="0">
                <a:solidFill>
                  <a:srgbClr val="58595A"/>
                </a:solidFill>
                <a:latin typeface="Khula"/>
              </a:rPr>
            </a:br>
            <a:r>
              <a:rPr b="0" dirty="0">
                <a:solidFill>
                  <a:srgbClr val="58595A"/>
                </a:solidFill>
                <a:latin typeface="Khula"/>
              </a:rPr>
              <a:t> not just make the right one possible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59424" y="3200400"/>
            <a:ext cx="73152" cy="164592"/>
          </a:xfrm>
          <a:prstGeom prst="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38600" y="3364992"/>
            <a:ext cx="4114800" cy="530352"/>
          </a:xfrm>
          <a:prstGeom prst="rect">
            <a:avLst/>
          </a:prstGeom>
          <a:solidFill>
            <a:srgbClr val="5BC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A1A2E"/>
                </a:solidFill>
                <a:latin typeface="Poppins"/>
              </a:rPr>
              <a:t>Code Generation  ← AI is strong 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9424" y="3895344"/>
            <a:ext cx="73152" cy="164592"/>
          </a:xfrm>
          <a:prstGeom prst="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38600" y="4059936"/>
            <a:ext cx="4114800" cy="53035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oppins"/>
              </a:rPr>
              <a:t>Domain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6280" y="4151376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58595A"/>
                </a:solidFill>
                <a:latin typeface="Khula"/>
              </a:rPr>
              <a:t>Does this solve the actual problem?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9424" y="4590288"/>
            <a:ext cx="73152" cy="164592"/>
          </a:xfrm>
          <a:prstGeom prst="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38600" y="4754880"/>
            <a:ext cx="4114800" cy="53035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oppins"/>
              </a:rPr>
              <a:t>SOFTWARE THAT WORKS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Make the Domain Gap Concrete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 lnSpcReduction="10000"/>
          </a:bodyPr>
          <a:lstStyle/>
          <a:p>
            <a:r>
              <a:rPr sz="2400" dirty="0"/>
              <a:t>Healthcare: EHR workflows shaped by CMS billing codes, HIPAA enforcement, accreditation docs</a:t>
            </a:r>
          </a:p>
          <a:p>
            <a:pPr lvl="1"/>
            <a:r>
              <a:rPr sz="2400" dirty="0"/>
              <a:t>AI generates HIPAA-shaped code. It cannot generate code that survives clinical reality.</a:t>
            </a:r>
          </a:p>
          <a:p>
            <a:endParaRPr sz="2400" dirty="0"/>
          </a:p>
          <a:p>
            <a:r>
              <a:rPr sz="2400" dirty="0"/>
              <a:t>Financial: Trading platform logic lives in post-mortems from market failures — not in any textbook</a:t>
            </a:r>
          </a:p>
          <a:p>
            <a:pPr lvl="1"/>
            <a:r>
              <a:rPr sz="2400" dirty="0"/>
              <a:t>Algorithmically correct code can be catastrophically wrong.</a:t>
            </a:r>
          </a:p>
          <a:p>
            <a:r>
              <a:rPr sz="2400" dirty="0"/>
              <a:t>Universal pattern: The code is the expression of the domain model. The domain model lives in people.</a:t>
            </a:r>
          </a:p>
          <a:p>
            <a:r>
              <a:rPr sz="2400" dirty="0"/>
              <a:t>The developer who has lived through the incidents carries irreplaceable knowledge.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EARS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 lnSpcReduction="10000"/>
          </a:bodyPr>
          <a:lstStyle/>
          <a:p>
            <a:r>
              <a:rPr sz="2400" dirty="0" err="1"/>
              <a:t>ThoughtWorks</a:t>
            </a:r>
            <a:r>
              <a:rPr sz="2400" dirty="0"/>
              <a:t> Future of Software Development Retreat, February 2026</a:t>
            </a:r>
          </a:p>
          <a:p>
            <a:r>
              <a:rPr sz="2400" dirty="0"/>
              <a:t>EARS — Easy Approach to Requirements Syntax — is being rediscovered. Why?</a:t>
            </a:r>
          </a:p>
          <a:p>
            <a:pPr lvl="1"/>
            <a:r>
              <a:rPr sz="2400" dirty="0"/>
              <a:t>“Traditional user stories are too vague to constrain AI agent behavior.”</a:t>
            </a:r>
          </a:p>
          <a:p>
            <a:endParaRPr sz="2400" dirty="0"/>
          </a:p>
          <a:p>
            <a:r>
              <a:rPr sz="2400" dirty="0"/>
              <a:t>The specification must be precise enough that the wrong implementation is unrepresentable — not just the right one made possible.</a:t>
            </a:r>
          </a:p>
          <a:p>
            <a:r>
              <a:rPr sz="2400" dirty="0"/>
              <a:t>Who writes a spec that precise?</a:t>
            </a:r>
          </a:p>
          <a:p>
            <a:pPr lvl="1"/>
            <a:r>
              <a:rPr sz="2400" dirty="0"/>
              <a:t>Someone who knows the domain well enough to anticipate which incorrect interpretations are possible</a:t>
            </a:r>
          </a:p>
          <a:p>
            <a:pPr lvl="1"/>
            <a:r>
              <a:rPr sz="2400" dirty="0"/>
              <a:t>That is domain expertise. A skill that compounds with experience. Not replaceable.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Amazon Kiro: The Lesson Baked Into the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December 2025: outage connected to “dark code” — AI-generated code running in production that no human ever fully understood</a:t>
            </a:r>
          </a:p>
          <a:p>
            <a:pPr lvl="1"/>
            <a:r>
              <a:rPr sz="2400" dirty="0"/>
              <a:t>Not buggy code. Functionally correct code that was never comprehended by anyone.</a:t>
            </a:r>
          </a:p>
          <a:p>
            <a:r>
              <a:rPr sz="2400" dirty="0"/>
              <a:t>Amazon rebuilt their AI coding tool: Kiro</a:t>
            </a:r>
          </a:p>
          <a:p>
            <a:pPr lvl="1"/>
            <a:r>
              <a:rPr sz="2400" dirty="0"/>
              <a:t>Leads with spec-driven development — turns prompts into requirements, tasks, and task lists before generating a single line of code</a:t>
            </a:r>
          </a:p>
          <a:p>
            <a:pPr lvl="1"/>
            <a:r>
              <a:rPr sz="2400" dirty="0"/>
              <a:t>That product decision is a direct acknowledgment that the specification step cannot be skipped</a:t>
            </a:r>
          </a:p>
          <a:p>
            <a:r>
              <a:rPr sz="2400" dirty="0"/>
              <a:t>“When the company that learned this lesson the hardest bakes it into the product, maybe we should all learn that lesson.” — Nate Jones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Light 1: The Payoff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“Insert Idea, Get Software” has a silent asterisk:</a:t>
            </a:r>
          </a:p>
          <a:p>
            <a:pPr lvl="1"/>
            <a:r>
              <a:rPr sz="2400" dirty="0"/>
              <a:t>* if the Idea already contains complete, precise, domain-accurate knowledge.</a:t>
            </a:r>
          </a:p>
          <a:p>
            <a:r>
              <a:rPr sz="2400" dirty="0"/>
              <a:t>But ideas from business stakeholders are always partial, contradictory, politically shaped, full of unwritten assumptions.</a:t>
            </a:r>
          </a:p>
          <a:p>
            <a:r>
              <a:rPr sz="2400" dirty="0"/>
              <a:t>Somebody has to do the translation. That work requires domain expertise AI does not have.</a:t>
            </a:r>
          </a:p>
          <a:p>
            <a:r>
              <a:rPr sz="2400" dirty="0"/>
              <a:t>The developer who understands both the code AND the business domain is more valuable in the AI era. Not less.</a:t>
            </a:r>
          </a:p>
          <a:p>
            <a:r>
              <a:rPr sz="2400" dirty="0"/>
              <a:t>The monster can write the code. The monster cannot understand the business.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Light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Compression, Not Extinction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Binary Question Fails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 lnSpcReduction="10000"/>
          </a:bodyPr>
          <a:lstStyle/>
          <a:p>
            <a:r>
              <a:rPr sz="2400" dirty="0"/>
              <a:t>“Will AI take my job?” is a binary question that produces binary responses — neither reaches strategy.</a:t>
            </a:r>
          </a:p>
          <a:p>
            <a:r>
              <a:rPr sz="2400" dirty="0"/>
              <a:t>John Maynard Keynes named “technological unemployment” in 1930.</a:t>
            </a:r>
          </a:p>
          <a:p>
            <a:r>
              <a:rPr sz="2400" dirty="0"/>
              <a:t>Nearly a century of automation has mostly proven him wrong on the outcome.</a:t>
            </a:r>
          </a:p>
          <a:p>
            <a:r>
              <a:rPr sz="2400" dirty="0"/>
              <a:t>Better frame — coined by Devlin Liles, Chief AI Officer at Improving:</a:t>
            </a:r>
          </a:p>
          <a:p>
            <a:pPr lvl="1"/>
            <a:r>
              <a:rPr sz="2400" dirty="0"/>
              <a:t>Labor Compression: the reduction of hours required per task, which creates freed capacity</a:t>
            </a:r>
          </a:p>
          <a:p>
            <a:endParaRPr sz="2400" dirty="0"/>
          </a:p>
          <a:p>
            <a:r>
              <a:rPr sz="2400" dirty="0"/>
              <a:t>The question that produces strategy:</a:t>
            </a:r>
          </a:p>
          <a:p>
            <a:pPr lvl="1"/>
            <a:r>
              <a:rPr sz="2400" b="1" dirty="0"/>
              <a:t>What happens to the freed capacity?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Historical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 fontScale="92500" lnSpcReduction="10000"/>
          </a:bodyPr>
          <a:lstStyle/>
          <a:p>
            <a:r>
              <a:rPr sz="2400" dirty="0"/>
              <a:t>ATMs and bank tellers (James Bessen, 2015):</a:t>
            </a:r>
          </a:p>
          <a:p>
            <a:pPr lvl="1"/>
            <a:r>
              <a:rPr sz="2400" dirty="0"/>
              <a:t>ATMs cut branch costs → cheaper to open branches → MORE tellers. Role changed, not eliminated.</a:t>
            </a:r>
          </a:p>
          <a:p>
            <a:r>
              <a:rPr sz="2400" dirty="0"/>
              <a:t>VisiCalc and accountants:</a:t>
            </a:r>
          </a:p>
          <a:p>
            <a:pPr lvl="1"/>
            <a:r>
              <a:rPr sz="2400" dirty="0"/>
              <a:t>Lost ~400,000 bookkeeping clerk jobs. Gained ~600,000 accountant and analyst jobs.</a:t>
            </a:r>
          </a:p>
          <a:p>
            <a:pPr lvl="1"/>
            <a:r>
              <a:rPr sz="2400" dirty="0"/>
              <a:t>Judgment work grew faster than the drudgery it replaced.</a:t>
            </a:r>
          </a:p>
          <a:p>
            <a:r>
              <a:rPr sz="2400" dirty="0"/>
              <a:t>E-discovery and paralegals:</a:t>
            </a:r>
          </a:p>
          <a:p>
            <a:pPr lvl="1"/>
            <a:r>
              <a:rPr sz="2400" dirty="0"/>
              <a:t>95% accuracy vs. 51% for human reviewers. Paralegal employment grew faster than the overall labor force.</a:t>
            </a:r>
          </a:p>
          <a:p>
            <a:r>
              <a:rPr sz="2400" dirty="0"/>
              <a:t>“The historical record of automation is, overwhelmingly, a record of compression rather than replacement.”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/>
              <a:t>The Four Fates of Freed Capacity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775004"/>
              </p:ext>
            </p:extLst>
          </p:nvPr>
        </p:nvGraphicFramePr>
        <p:xfrm>
          <a:off x="365760" y="1325880"/>
          <a:ext cx="1146047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2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4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3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7552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  <a:latin typeface="Poppins"/>
                        </a:rPr>
                        <a:t>Fate</a:t>
                      </a:r>
                    </a:p>
                  </a:txBody>
                  <a:tcPr>
                    <a:solidFill>
                      <a:srgbClr val="0055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Poppins"/>
                        </a:rPr>
                        <a:t>Description</a:t>
                      </a:r>
                    </a:p>
                  </a:txBody>
                  <a:tcPr>
                    <a:solidFill>
                      <a:srgbClr val="0055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Poppins"/>
                        </a:rPr>
                        <a:t>Best When</a:t>
                      </a:r>
                    </a:p>
                  </a:txBody>
                  <a:tcPr>
                    <a:solidFill>
                      <a:srgbClr val="0055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A1A2E"/>
                          </a:solidFill>
                          <a:latin typeface="Khula"/>
                        </a:rPr>
                        <a:t>Grow 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Khula"/>
                        </a:rPr>
                        <a:t>Serve more clients, expand offerings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Khula"/>
                        </a:rPr>
                        <a:t>Execution was the bottleneck; market exists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Khula"/>
                        </a:rPr>
                        <a:t>Redeploy within role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Khula"/>
                        </a:rPr>
                        <a:t>Move time to higher-value work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Khula"/>
                        </a:rPr>
                        <a:t>Role has unrealized higher-value work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Khula"/>
                        </a:rPr>
                        <a:t>Reduce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Khula"/>
                        </a:rPr>
                        <a:t>Operate with smaller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Khula"/>
                        </a:rPr>
                        <a:t>Demand is fixed and won’t expand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Khula"/>
                        </a:rPr>
                        <a:t>Invest in capability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Khula"/>
                        </a:rPr>
                        <a:t>Use freed capacity to build future options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A1A2E"/>
                          </a:solidFill>
                          <a:latin typeface="Khula"/>
                        </a:rPr>
                        <a:t>Strategic positioning matters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97880"/>
            <a:ext cx="11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5596"/>
                </a:solidFill>
                <a:latin typeface="Poppins"/>
              </a:rPr>
              <a:t>Organizations that don’t choose default to cost reduction — often the least strategic option.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Light 2: The Payoff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 lnSpcReduction="10000"/>
          </a:bodyPr>
          <a:lstStyle/>
          <a:p>
            <a:r>
              <a:rPr sz="2000" dirty="0"/>
              <a:t>The question that produces fear: “Will AI take my job?”</a:t>
            </a:r>
          </a:p>
          <a:p>
            <a:endParaRPr sz="2000" dirty="0"/>
          </a:p>
          <a:p>
            <a:r>
              <a:rPr sz="2000" dirty="0"/>
              <a:t>The question that produces strategy: “What happens to the freed capacity in my role — and am I the person choosing how to use it?”</a:t>
            </a:r>
          </a:p>
          <a:p>
            <a:endParaRPr sz="2000" dirty="0"/>
          </a:p>
          <a:p>
            <a:r>
              <a:rPr sz="2000" dirty="0"/>
              <a:t>The historical record favors the people who ask the second question and act on the answer.</a:t>
            </a:r>
          </a:p>
          <a:p>
            <a:endParaRPr sz="2000" dirty="0"/>
          </a:p>
          <a:p>
            <a:r>
              <a:rPr sz="2000" dirty="0"/>
              <a:t>Developers who do the work AI compresses poorly — domain translation, specification quality, judgment, evaluation — are the ones directing where the freed capacity goes.</a:t>
            </a:r>
          </a:p>
          <a:p>
            <a:endParaRPr sz="2000" dirty="0"/>
          </a:p>
          <a:p>
            <a:r>
              <a:rPr sz="2000" dirty="0"/>
              <a:t>The monster doesn’t automatically eat you. But it demands a deliberate response.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Light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The Broken Ladder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/>
          </a:bodyPr>
          <a:lstStyle/>
          <a:p>
            <a:r>
              <a:rPr sz="2000" dirty="0"/>
              <a:t>Communications of the ACM, April 2026</a:t>
            </a:r>
          </a:p>
          <a:p>
            <a:endParaRPr sz="2000" dirty="0"/>
          </a:p>
          <a:p>
            <a:r>
              <a:rPr sz="2000" dirty="0"/>
              <a:t>Mark Russinovich — Azure CTO, Microsoft</a:t>
            </a:r>
          </a:p>
          <a:p>
            <a:r>
              <a:rPr sz="2000" dirty="0"/>
              <a:t>Scott Hanselman — VP Developer Community, Microsoft</a:t>
            </a:r>
          </a:p>
          <a:p>
            <a:endParaRPr sz="2000" dirty="0"/>
          </a:p>
          <a:p>
            <a:r>
              <a:rPr sz="2000" dirty="0"/>
              <a:t>This is not academics running a lab experiment.</a:t>
            </a:r>
          </a:p>
          <a:p>
            <a:r>
              <a:rPr sz="2000" dirty="0"/>
              <a:t>These are two of the most experienced engineering leaders in the industry,</a:t>
            </a:r>
          </a:p>
          <a:p>
            <a:r>
              <a:rPr sz="2000" dirty="0"/>
              <a:t>writing about what they are watching happen inside the largest engineering organization on earth.</a:t>
            </a:r>
          </a:p>
          <a:p>
            <a:endParaRPr sz="2000" dirty="0"/>
          </a:p>
          <a:p>
            <a:r>
              <a:rPr sz="2000" dirty="0"/>
              <a:t>Their argument is careful, empirically grounded, and urgent.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What They Found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 lnSpcReduction="10000"/>
          </a:bodyPr>
          <a:lstStyle/>
          <a:p>
            <a:r>
              <a:rPr sz="2000" dirty="0"/>
              <a:t>AI creates seniority-biased technological change.</a:t>
            </a:r>
          </a:p>
          <a:p>
            <a:endParaRPr sz="2000" dirty="0"/>
          </a:p>
          <a:p>
            <a:r>
              <a:rPr sz="2000" dirty="0"/>
              <a:t>After GPT-4’s release:</a:t>
            </a:r>
          </a:p>
          <a:p>
            <a:pPr lvl="1"/>
            <a:r>
              <a:rPr sz="2000" dirty="0"/>
              <a:t>Employment of 22–25-year-olds in AI-exposed roles fell by approximately 13%</a:t>
            </a:r>
          </a:p>
          <a:p>
            <a:pPr lvl="1"/>
            <a:r>
              <a:rPr sz="2000" dirty="0"/>
              <a:t>Senior roles grew during the same period</a:t>
            </a:r>
          </a:p>
          <a:p>
            <a:endParaRPr sz="2000" dirty="0"/>
          </a:p>
          <a:p>
            <a:r>
              <a:rPr sz="2000" dirty="0"/>
              <a:t>What does senior + AI look like?</a:t>
            </a:r>
          </a:p>
          <a:p>
            <a:pPr lvl="1"/>
            <a:r>
              <a:rPr sz="2000" dirty="0"/>
              <a:t>Project Societas: 7 part-time senior engineers, 110,000 lines of code, 10 weeks, 98% AI-generated</a:t>
            </a:r>
          </a:p>
          <a:p>
            <a:pPr lvl="1"/>
            <a:r>
              <a:rPr sz="2000" dirty="0"/>
              <a:t>What would previously have required a team of 40–50</a:t>
            </a:r>
          </a:p>
          <a:p>
            <a:endParaRPr sz="2000" dirty="0"/>
          </a:p>
          <a:p>
            <a:r>
              <a:rPr sz="2000" dirty="0"/>
              <a:t>That is the upside for seniors. Now here is the problem.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Dangerous Default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/>
          </a:bodyPr>
          <a:lstStyle/>
          <a:p>
            <a:r>
              <a:rPr sz="2000" dirty="0"/>
              <a:t>The economically rational short-term response: stop hiring early-career developers.</a:t>
            </a:r>
          </a:p>
          <a:p>
            <a:endParaRPr sz="2000" dirty="0"/>
          </a:p>
          <a:p>
            <a:r>
              <a:rPr sz="2000" dirty="0"/>
              <a:t>This logic is seductive. And it is everywhere. And it is a trap.</a:t>
            </a:r>
          </a:p>
          <a:p>
            <a:r>
              <a:rPr sz="2000" dirty="0"/>
              <a:t>Where do senior engineers come from?</a:t>
            </a:r>
          </a:p>
          <a:p>
            <a:pPr lvl="1"/>
            <a:r>
              <a:rPr sz="2000" dirty="0"/>
              <a:t>Junior engineers who were hired, given hard problems, who struggled, who grew.</a:t>
            </a:r>
          </a:p>
          <a:p>
            <a:r>
              <a:rPr sz="2000" dirty="0"/>
              <a:t>The profession is a pipeline, not a pool.</a:t>
            </a:r>
          </a:p>
          <a:p>
            <a:r>
              <a:rPr sz="2000" dirty="0"/>
              <a:t>You cannot draw from it without also filling it.</a:t>
            </a:r>
          </a:p>
          <a:p>
            <a:r>
              <a:rPr sz="2000" dirty="0"/>
              <a:t>Russinovich and Hanselman call this the narrowing pyramid hypothesis.</a:t>
            </a:r>
          </a:p>
          <a:p>
            <a:r>
              <a:rPr sz="2000" dirty="0"/>
              <a:t>They argue, unambiguously, that we must not let it happen.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Real Problem Is the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 fontScale="92500" lnSpcReduction="10000"/>
          </a:bodyPr>
          <a:lstStyle/>
          <a:p>
            <a:r>
              <a:rPr sz="2400" dirty="0"/>
              <a:t>The issue is NOT that early-career developers can’t learn in the AI era.</a:t>
            </a:r>
          </a:p>
          <a:p>
            <a:r>
              <a:rPr sz="2400" dirty="0"/>
              <a:t>The issue is that the way we have always developed them no longer works.</a:t>
            </a:r>
          </a:p>
          <a:p>
            <a:r>
              <a:rPr sz="2400" dirty="0"/>
              <a:t>The traditional model:</a:t>
            </a:r>
          </a:p>
          <a:p>
            <a:pPr lvl="1"/>
            <a:r>
              <a:rPr sz="2400" dirty="0"/>
              <a:t>Give juniors bug fixes, small features, support tickets. Let them struggle.</a:t>
            </a:r>
          </a:p>
          <a:p>
            <a:pPr lvl="1"/>
            <a:r>
              <a:rPr sz="2400" dirty="0"/>
              <a:t>That struggle is the school — not a side effect of the work, but the actual learning mechanism.</a:t>
            </a:r>
          </a:p>
          <a:p>
            <a:r>
              <a:rPr sz="2400" dirty="0"/>
              <a:t>Now AI does those tasks. The organic learning path built into daily work has been automated away.</a:t>
            </a:r>
          </a:p>
          <a:p>
            <a:r>
              <a:rPr sz="2400" dirty="0"/>
              <a:t>“The profession doesn’t have a junior developer talent problem. It has a junior developer development model problem.”</a:t>
            </a:r>
          </a:p>
          <a:p>
            <a:r>
              <a:rPr sz="2400" dirty="0"/>
              <a:t>And that is a problem we can solve.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Preceptorship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 fontScale="92500" lnSpcReduction="10000"/>
          </a:bodyPr>
          <a:lstStyle/>
          <a:p>
            <a:r>
              <a:rPr sz="2400" dirty="0"/>
              <a:t>Russinovich and Hanselman’s proposal: structured, deliberate, formal. Not casual mentorship.</a:t>
            </a:r>
          </a:p>
          <a:p>
            <a:r>
              <a:rPr sz="2400" dirty="0"/>
              <a:t>1. Change the ratio:</a:t>
            </a:r>
          </a:p>
          <a:p>
            <a:pPr lvl="1"/>
            <a:r>
              <a:rPr sz="2400" dirty="0"/>
              <a:t>Old model: ~10:1 early-career to tech lead</a:t>
            </a:r>
          </a:p>
          <a:p>
            <a:pPr lvl="1"/>
            <a:r>
              <a:rPr sz="2400" dirty="0"/>
              <a:t>New model: 3:1 to 5:1 learner to preceptor</a:t>
            </a:r>
          </a:p>
          <a:p>
            <a:r>
              <a:rPr sz="2400" dirty="0"/>
              <a:t>2. Change the work:</a:t>
            </a:r>
          </a:p>
          <a:p>
            <a:pPr lvl="1"/>
            <a:r>
              <a:rPr sz="2400" dirty="0"/>
              <a:t>EiC developers invited into ALL aspects — prompting agents, debugging AI output, reviewing alongside preceptors</a:t>
            </a:r>
          </a:p>
          <a:p>
            <a:r>
              <a:rPr sz="2400" dirty="0"/>
              <a:t>3. Change the tools:</a:t>
            </a:r>
          </a:p>
          <a:p>
            <a:pPr lvl="1"/>
            <a:r>
              <a:rPr sz="2400" dirty="0"/>
              <a:t>“EiC mode” — Socratic coaching before code generation</a:t>
            </a:r>
          </a:p>
          <a:p>
            <a:pPr lvl="1"/>
            <a:r>
              <a:rPr sz="2400" dirty="0"/>
              <a:t>“I’m not going to present the solution before you guess. That would be wasteful.” — Andrej </a:t>
            </a:r>
            <a:r>
              <a:rPr sz="2400" dirty="0" err="1"/>
              <a:t>Karpathy</a:t>
            </a:r>
            <a:endParaRPr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Light 3: Two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 wrap="square">
            <a:normAutofit/>
          </a:bodyPr>
          <a:lstStyle/>
          <a:p>
            <a:r>
              <a:rPr sz="2000" b="1" dirty="0"/>
              <a:t>If you are early-career:</a:t>
            </a:r>
          </a:p>
          <a:p>
            <a:endParaRPr sz="2000" b="1" dirty="0"/>
          </a:p>
          <a:p>
            <a:r>
              <a:rPr sz="2000" dirty="0"/>
              <a:t>The path is different, not closed.</a:t>
            </a:r>
          </a:p>
          <a:p>
            <a:endParaRPr sz="2000" dirty="0"/>
          </a:p>
          <a:p>
            <a:r>
              <a:rPr sz="2000" dirty="0"/>
              <a:t>Find the organizations investing in the new model.</a:t>
            </a:r>
          </a:p>
          <a:p>
            <a:endParaRPr sz="2000" dirty="0"/>
          </a:p>
          <a:p>
            <a:r>
              <a:rPr sz="2000" dirty="0"/>
              <a:t>Seek environments where you are invited into the reasoning, not just handed the output.</a:t>
            </a:r>
          </a:p>
          <a:p>
            <a:endParaRPr sz="2000" dirty="0"/>
          </a:p>
          <a:p>
            <a:r>
              <a:rPr sz="2000" dirty="0"/>
              <a:t>Be the apprentice. Not the audience.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>
            <a:normAutofit fontScale="92500" lnSpcReduction="20000"/>
          </a:bodyPr>
          <a:lstStyle/>
          <a:p>
            <a:r>
              <a:rPr sz="2000" b="1" dirty="0"/>
              <a:t>If you are senior:</a:t>
            </a:r>
          </a:p>
          <a:p>
            <a:endParaRPr sz="2000" b="1" dirty="0"/>
          </a:p>
          <a:p>
            <a:r>
              <a:rPr sz="2000" dirty="0"/>
              <a:t>The AI era gave you a multiplier on output AND a new responsibility.</a:t>
            </a:r>
          </a:p>
          <a:p>
            <a:endParaRPr sz="2000" dirty="0"/>
          </a:p>
          <a:p>
            <a:r>
              <a:rPr sz="2000" dirty="0"/>
              <a:t>Your systems taste, debugging judgment, architectural intuition — that is the profession’s most valuable and most endangered resource.</a:t>
            </a:r>
          </a:p>
          <a:p>
            <a:endParaRPr sz="2000" dirty="0"/>
          </a:p>
          <a:p>
            <a:r>
              <a:rPr sz="2000" dirty="0"/>
              <a:t>Teaching it, deliberately and structurally, is no longer optional.</a:t>
            </a:r>
          </a:p>
          <a:p>
            <a:endParaRPr sz="2000" dirty="0"/>
          </a:p>
          <a:p>
            <a:r>
              <a:rPr sz="2000" dirty="0"/>
              <a:t>The preceptor role is the most important job title that doesn’t exist yet in most organizations.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/>
              <a:t>The Full Shape of the Monster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311648"/>
              </p:ext>
            </p:extLst>
          </p:nvPr>
        </p:nvGraphicFramePr>
        <p:xfrm>
          <a:off x="365760" y="1325880"/>
          <a:ext cx="1146047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3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4440"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FFFFFF"/>
                          </a:solidFill>
                          <a:latin typeface="Poppins"/>
                        </a:rPr>
                        <a:t>Light</a:t>
                      </a:r>
                    </a:p>
                  </a:txBody>
                  <a:tcPr>
                    <a:solidFill>
                      <a:srgbClr val="0055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FFFFFF"/>
                          </a:solidFill>
                          <a:latin typeface="Poppins"/>
                        </a:rPr>
                        <a:t>What It Shows</a:t>
                      </a:r>
                    </a:p>
                  </a:txBody>
                  <a:tcPr>
                    <a:solidFill>
                      <a:srgbClr val="0055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1A1A2E"/>
                          </a:solidFill>
                          <a:latin typeface="Khula"/>
                        </a:rPr>
                        <a:t>Light 1: The Hidden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A1A2E"/>
                          </a:solidFill>
                          <a:latin typeface="Khula"/>
                        </a:rPr>
                        <a:t>AI is strong at code. Domain knowledge is the hard part. It lives in people.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A1A2E"/>
                          </a:solidFill>
                          <a:latin typeface="Khula"/>
                        </a:rPr>
                        <a:t>Light 2: Compression, Not Extinction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1A1A2E"/>
                          </a:solidFill>
                          <a:latin typeface="Khula"/>
                        </a:rPr>
                        <a:t>History shows compression, not extinction — but it demands a deliberate response.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A1A2E"/>
                          </a:solidFill>
                          <a:latin typeface="Khula"/>
                        </a:rPr>
                        <a:t>Light 3: The Broken 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1A1A2E"/>
                          </a:solidFill>
                          <a:latin typeface="Khula"/>
                        </a:rPr>
                        <a:t>The learning model is broken. Not the people. We know how to fix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97880"/>
            <a:ext cx="11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8595A"/>
                </a:solidFill>
                <a:latin typeface="Poppins"/>
              </a:rPr>
              <a:t>“A set of specific challenges with specific answers — all of which point directly at the things you already know how to do.”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Part 3: The Race Car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The hottest race car in the history of business just pulled into the pit.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You Have a Choice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 wrap="square">
            <a:normAutofit/>
          </a:bodyPr>
          <a:lstStyle/>
          <a:p>
            <a:r>
              <a:rPr sz="2400" b="1" dirty="0"/>
              <a:t>Stand on the side of the track:</a:t>
            </a:r>
          </a:p>
          <a:p>
            <a:endParaRPr sz="2400" b="1" dirty="0"/>
          </a:p>
          <a:p>
            <a:r>
              <a:rPr sz="2400" dirty="0"/>
              <a:t>It’s loud. It’s fast.</a:t>
            </a:r>
          </a:p>
          <a:p>
            <a:r>
              <a:rPr sz="2400" dirty="0"/>
              <a:t>It could hurt someone.</a:t>
            </a:r>
          </a:p>
          <a:p>
            <a:r>
              <a:rPr sz="2400" dirty="0"/>
              <a:t>I don’t understand it.</a:t>
            </a:r>
          </a:p>
          <a:p>
            <a:endParaRPr sz="2400" dirty="0"/>
          </a:p>
          <a:p>
            <a:r>
              <a:rPr sz="2400" dirty="0"/>
              <a:t>Fear the monster. Wait for Tuesday.</a:t>
            </a:r>
          </a:p>
          <a:p>
            <a:r>
              <a:rPr sz="2400" dirty="0"/>
              <a:t>Live in the vague dread.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>
            <a:normAutofit/>
          </a:bodyPr>
          <a:lstStyle/>
          <a:p>
            <a:r>
              <a:rPr sz="2400" b="1" dirty="0"/>
              <a:t>Get in and drive:</a:t>
            </a:r>
          </a:p>
          <a:p>
            <a:r>
              <a:rPr sz="2400" dirty="0"/>
              <a:t>Driver: strategy, judgment, knowing the track, knowing when to brake</a:t>
            </a:r>
          </a:p>
          <a:p>
            <a:endParaRPr sz="2400" dirty="0"/>
          </a:p>
          <a:p>
            <a:r>
              <a:rPr sz="2400" dirty="0"/>
              <a:t>Mechanic: understanding how it works, tuning for conditions</a:t>
            </a:r>
          </a:p>
          <a:p>
            <a:endParaRPr sz="2400" dirty="0"/>
          </a:p>
          <a:p>
            <a:r>
              <a:rPr sz="2400" dirty="0"/>
              <a:t>Developers are uniquely positioned to be both.</a:t>
            </a:r>
          </a:p>
          <a:p>
            <a:r>
              <a:rPr sz="2400" dirty="0"/>
              <a:t>The car needs you.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Infrastructure IS Developer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Harnesses — the scaffolding that wraps a language model:</a:t>
            </a:r>
          </a:p>
          <a:p>
            <a:pPr lvl="1"/>
            <a:r>
              <a:rPr sz="2400" dirty="0"/>
              <a:t>Context management, tool definitions, system prompts, session state</a:t>
            </a:r>
          </a:p>
          <a:p>
            <a:pPr lvl="1"/>
            <a:r>
              <a:rPr sz="2400" dirty="0"/>
              <a:t>Built with code. Version-controlled. Debugged. Tested. It’s software engineering.</a:t>
            </a:r>
          </a:p>
          <a:p>
            <a:r>
              <a:rPr sz="2400" dirty="0"/>
              <a:t>Evaluations — the test suite for AI behavior:</a:t>
            </a:r>
          </a:p>
          <a:p>
            <a:pPr lvl="1"/>
            <a:r>
              <a:rPr sz="2400" dirty="0"/>
              <a:t>Pass/fail signals. Regression testing. The same discipline that makes reliable software.</a:t>
            </a:r>
          </a:p>
          <a:p>
            <a:pPr lvl="1"/>
            <a:r>
              <a:rPr sz="2400" dirty="0"/>
              <a:t>The rubric that defines good output enables cost-efficient model routing.</a:t>
            </a:r>
          </a:p>
          <a:p>
            <a:r>
              <a:rPr sz="2400" dirty="0"/>
              <a:t>Prompts — which are specifications. Developers write specifications.</a:t>
            </a:r>
          </a:p>
          <a:p>
            <a:r>
              <a:rPr sz="2400" dirty="0"/>
              <a:t>The frontier of AI is being pushed forward by engineers writing specs, evals, and harnesses. That is you.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Spec as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 fontScale="92500" lnSpcReduction="10000"/>
          </a:bodyPr>
          <a:lstStyle/>
          <a:p>
            <a:r>
              <a:rPr sz="2400" dirty="0"/>
              <a:t>A well-written spec is:</a:t>
            </a:r>
          </a:p>
          <a:p>
            <a:pPr lvl="1"/>
            <a:r>
              <a:rPr sz="2400" dirty="0"/>
              <a:t>A comprehension checkpoint — someone understood what they wanted before the code existed</a:t>
            </a:r>
          </a:p>
          <a:p>
            <a:pPr lvl="1"/>
            <a:r>
              <a:rPr sz="2400" dirty="0"/>
              <a:t>An eval — the test the agent iterates against</a:t>
            </a:r>
          </a:p>
          <a:p>
            <a:pPr lvl="1"/>
            <a:r>
              <a:rPr sz="2400" dirty="0"/>
              <a:t>A quality gate — the success criterion every future run is measured against</a:t>
            </a:r>
          </a:p>
          <a:p>
            <a:pPr lvl="1"/>
            <a:r>
              <a:rPr sz="2400" dirty="0"/>
              <a:t>A record — what was intended vs. what shipped</a:t>
            </a:r>
          </a:p>
          <a:p>
            <a:endParaRPr sz="2400" dirty="0"/>
          </a:p>
          <a:p>
            <a:r>
              <a:rPr sz="2400" dirty="0"/>
              <a:t>“Force understanding as a cultural primary artifact before the code exists.” — Nate Jones</a:t>
            </a:r>
          </a:p>
          <a:p>
            <a:r>
              <a:rPr sz="2400" dirty="0"/>
              <a:t>The spec becom</a:t>
            </a:r>
            <a:r>
              <a:rPr lang="en-US" sz="2400" dirty="0"/>
              <a:t>e</a:t>
            </a:r>
            <a:r>
              <a:rPr sz="2400" dirty="0"/>
              <a:t>s the eval. The eval becomes the test harness. The test harness becomes the quality gate.</a:t>
            </a:r>
          </a:p>
          <a:p>
            <a:r>
              <a:rPr sz="2400" dirty="0"/>
              <a:t>That is your discipline.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Speed Amplifies 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The race car goes faster. Your mistakes arrive faster too.</a:t>
            </a:r>
          </a:p>
          <a:p>
            <a:r>
              <a:rPr sz="2400" dirty="0"/>
              <a:t>AI increases surface area — more commitments to more stakeholders faster.</a:t>
            </a:r>
          </a:p>
          <a:p>
            <a:r>
              <a:rPr sz="2400" dirty="0"/>
              <a:t>Speed doesn’t change the cost of a broken commitment.</a:t>
            </a:r>
          </a:p>
          <a:p>
            <a:r>
              <a:rPr sz="2400" dirty="0"/>
              <a:t>It means you can break more of them faster.</a:t>
            </a:r>
          </a:p>
          <a:p>
            <a:r>
              <a:rPr sz="2400" dirty="0"/>
              <a:t>The developer who uses AI to go faster AND stays reliable earns organizational currency.</a:t>
            </a:r>
          </a:p>
          <a:p>
            <a:r>
              <a:rPr sz="2400" dirty="0"/>
              <a:t>The developer who uses AI to over-promise and under-deliver loses it — faster than before.</a:t>
            </a:r>
          </a:p>
          <a:p>
            <a:r>
              <a:rPr sz="2400" dirty="0"/>
              <a:t>The driver matters more than ever. The car going faster is a reason to be better, not less careful.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Part 4: The 201 Manifesto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The skills that have nothing to do with prompting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/>
              <a:t>The Training Gap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13019"/>
              </p:ext>
            </p:extLst>
          </p:nvPr>
        </p:nvGraphicFramePr>
        <p:xfrm>
          <a:off x="365760" y="1325880"/>
          <a:ext cx="1146047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9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5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444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Poppins"/>
                        </a:rPr>
                        <a:t>Level</a:t>
                      </a:r>
                    </a:p>
                  </a:txBody>
                  <a:tcPr>
                    <a:solidFill>
                      <a:srgbClr val="0055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Poppins"/>
                        </a:rPr>
                        <a:t>What It Covers</a:t>
                      </a:r>
                    </a:p>
                  </a:txBody>
                  <a:tcPr>
                    <a:solidFill>
                      <a:srgbClr val="0055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Poppins"/>
                        </a:rPr>
                        <a:t>Who It Serves</a:t>
                      </a:r>
                    </a:p>
                  </a:txBody>
                  <a:tcPr>
                    <a:solidFill>
                      <a:srgbClr val="0055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A1A2E"/>
                          </a:solidFill>
                          <a:latin typeface="Khula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A1A2E"/>
                          </a:solidFill>
                          <a:latin typeface="Khula"/>
                        </a:rPr>
                        <a:t>Tool tours, prompting basics, generic 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A1A2E"/>
                          </a:solidFill>
                          <a:latin typeface="Khula"/>
                        </a:rPr>
                        <a:t>Everyone — but insufficient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A1A2E"/>
                          </a:solidFill>
                          <a:latin typeface="Khula"/>
                        </a:rPr>
                        <a:t>201 — MISSING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A1A2E"/>
                          </a:solidFill>
                          <a:latin typeface="Khula"/>
                        </a:rPr>
                        <a:t>Applied judgment, workflow integration, quality evaluation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A1A2E"/>
                          </a:solidFill>
                          <a:latin typeface="Khula"/>
                        </a:rPr>
                        <a:t>Most people, most of the time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A1A2E"/>
                          </a:solidFill>
                          <a:latin typeface="Khula"/>
                        </a:rPr>
                        <a:t>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A1A2E"/>
                          </a:solidFill>
                          <a:latin typeface="Khula"/>
                        </a:rPr>
                        <a:t>APIs, RAG architectures, fine-tuning, technical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A1A2E"/>
                          </a:solidFill>
                          <a:latin typeface="Khula"/>
                        </a:rPr>
                        <a:t>Developers and builders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97880"/>
            <a:ext cx="11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5596"/>
                </a:solidFill>
                <a:latin typeface="Poppins"/>
              </a:rPr>
              <a:t>The 201 level is being skipped entirely. That’s where most of the productivity gains live.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Nate Jones &amp; Ethan Mollick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r>
              <a:rPr dirty="0"/>
              <a:t>“AI isn’t a tool skill. It’s a management skill. The best users of AI are good managers. They’re good teachers.”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Six 201-Level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 wrap="square">
            <a:normAutofit/>
          </a:bodyPr>
          <a:lstStyle/>
          <a:p>
            <a:r>
              <a:rPr sz="1800" dirty="0"/>
              <a:t>1. Context Assembly</a:t>
            </a:r>
          </a:p>
          <a:p>
            <a:pPr lvl="1"/>
            <a:r>
              <a:rPr sz="1800" dirty="0"/>
              <a:t>Knowing what information to provide and why</a:t>
            </a:r>
          </a:p>
          <a:p>
            <a:endParaRPr sz="1800" dirty="0"/>
          </a:p>
          <a:p>
            <a:r>
              <a:rPr sz="1800" dirty="0"/>
              <a:t>2. Quality Judgment</a:t>
            </a:r>
          </a:p>
          <a:p>
            <a:pPr lvl="1"/>
            <a:r>
              <a:rPr sz="1800" dirty="0"/>
              <a:t>Knowing when to trust AI output and when to verify</a:t>
            </a:r>
          </a:p>
          <a:p>
            <a:endParaRPr sz="1800" dirty="0"/>
          </a:p>
          <a:p>
            <a:r>
              <a:rPr sz="1800" dirty="0"/>
              <a:t>3. Task Decomposition</a:t>
            </a:r>
          </a:p>
          <a:p>
            <a:pPr lvl="1"/>
            <a:r>
              <a:rPr sz="1800" dirty="0"/>
              <a:t>Breaking work into AI-appropriate chunks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>
            <a:normAutofit lnSpcReduction="10000"/>
          </a:bodyPr>
          <a:lstStyle/>
          <a:p>
            <a:r>
              <a:rPr sz="1800" dirty="0"/>
              <a:t>4. Iterative Refinement</a:t>
            </a:r>
          </a:p>
          <a:p>
            <a:pPr lvl="1"/>
            <a:r>
              <a:rPr sz="1800" dirty="0"/>
              <a:t>Moving from 70% to 95% through structured passes</a:t>
            </a:r>
          </a:p>
          <a:p>
            <a:endParaRPr sz="1800" dirty="0"/>
          </a:p>
          <a:p>
            <a:r>
              <a:rPr sz="1800" dirty="0"/>
              <a:t>5. Workflow Integration</a:t>
            </a:r>
          </a:p>
          <a:p>
            <a:pPr lvl="1"/>
            <a:r>
              <a:rPr sz="1800" dirty="0"/>
              <a:t>Embedding AI into how work actually gets done</a:t>
            </a:r>
          </a:p>
          <a:p>
            <a:endParaRPr sz="1800" dirty="0"/>
          </a:p>
          <a:p>
            <a:r>
              <a:rPr sz="1800" dirty="0"/>
              <a:t>6. Frontier Recognition</a:t>
            </a:r>
          </a:p>
          <a:p>
            <a:pPr lvl="1"/>
            <a:r>
              <a:rPr sz="1800" dirty="0"/>
              <a:t>Knowing when you’re outside AI’s capability boundary</a:t>
            </a:r>
          </a:p>
          <a:p>
            <a:endParaRPr sz="1800" dirty="0"/>
          </a:p>
          <a:p>
            <a:r>
              <a:rPr sz="1800" dirty="0"/>
              <a:t>Zero are prompting techniques. All transfer across tools and survive model upgrades.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Skill 1: Context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Knowing what information to provide from which sources and why.</a:t>
            </a:r>
          </a:p>
          <a:p>
            <a:r>
              <a:rPr sz="2400" dirty="0"/>
              <a:t>The 101 user: dumps entire documents OR provides almost no context — both produce mediocre results.</a:t>
            </a:r>
          </a:p>
          <a:p>
            <a:r>
              <a:rPr sz="2400" dirty="0"/>
              <a:t>The 201 user: understands that AI is sensitive to context quality</a:t>
            </a:r>
          </a:p>
          <a:p>
            <a:pPr lvl="1"/>
            <a:r>
              <a:rPr sz="2400" dirty="0"/>
              <a:t>Takes time to provide the right background, constraints, and examples</a:t>
            </a:r>
          </a:p>
          <a:p>
            <a:pPr lvl="1"/>
            <a:r>
              <a:rPr sz="2400" dirty="0"/>
              <a:t>Knows the quality of AI output is a direct function of the quality of what you give it</a:t>
            </a:r>
          </a:p>
          <a:p>
            <a:r>
              <a:rPr sz="2400" dirty="0"/>
              <a:t>Your years of domain knowledge determine the quality of your context.</a:t>
            </a:r>
            <a:endParaRPr lang="en-US" sz="2400" dirty="0"/>
          </a:p>
          <a:p>
            <a:endParaRPr sz="2400" dirty="0"/>
          </a:p>
          <a:p>
            <a:r>
              <a:rPr sz="2400" dirty="0"/>
              <a:t>This is Light 1 applied to daily work.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Skill 2: Quality Judgment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 lnSpcReduction="10000"/>
          </a:bodyPr>
          <a:lstStyle/>
          <a:p>
            <a:r>
              <a:rPr sz="2400" dirty="0"/>
              <a:t>Knowing when to trust AI output and when to verify it.</a:t>
            </a:r>
          </a:p>
          <a:p>
            <a:r>
              <a:rPr sz="2400" dirty="0"/>
              <a:t>Two dimensions:</a:t>
            </a:r>
          </a:p>
          <a:p>
            <a:pPr lvl="1"/>
            <a:r>
              <a:rPr sz="2400" dirty="0"/>
              <a:t>Which task types require what level of verification</a:t>
            </a:r>
          </a:p>
          <a:p>
            <a:pPr lvl="1"/>
            <a:r>
              <a:rPr sz="2400" dirty="0"/>
              <a:t>Within a given output, which parts are likely reliable vs. likely problematic</a:t>
            </a:r>
          </a:p>
          <a:p>
            <a:r>
              <a:rPr sz="2400" dirty="0"/>
              <a:t>AI can confidently state accurate information and hallucinate in the exact same paragraph.</a:t>
            </a:r>
          </a:p>
          <a:p>
            <a:r>
              <a:rPr sz="2400" dirty="0"/>
              <a:t>BCG study (758 consultants):</a:t>
            </a:r>
          </a:p>
          <a:p>
            <a:pPr lvl="1"/>
            <a:r>
              <a:rPr sz="2400" dirty="0"/>
              <a:t>With this skill: +12.2% tasks completed, 25.1% faster</a:t>
            </a:r>
          </a:p>
          <a:p>
            <a:pPr lvl="1"/>
            <a:r>
              <a:rPr sz="2400" dirty="0"/>
              <a:t>Without it: -19 percentage points on accuracy vs. working without AI</a:t>
            </a:r>
          </a:p>
          <a:p>
            <a:r>
              <a:rPr sz="2400" dirty="0"/>
              <a:t>That 19-point gap is the cost of not developing this skill.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Skill 3: Task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Breaking work into AI-appropriate chunks rather than throwing an entire task at the tool.</a:t>
            </a:r>
          </a:p>
          <a:p>
            <a:r>
              <a:rPr sz="2400" dirty="0"/>
              <a:t>The management framing: which subtasks do you delegate to yourself, and which to AI?</a:t>
            </a:r>
          </a:p>
          <a:p>
            <a:pPr lvl="1"/>
            <a:r>
              <a:rPr sz="2400" dirty="0"/>
              <a:t>The same way you’d think about delegating to a team member</a:t>
            </a:r>
          </a:p>
          <a:p>
            <a:r>
              <a:rPr sz="2400" dirty="0"/>
              <a:t>Not: “Build me an app.”</a:t>
            </a:r>
          </a:p>
          <a:p>
            <a:r>
              <a:rPr sz="2400" dirty="0"/>
              <a:t>Instead: here’s the spec, here’s the component, here’s the acceptance criteria, here’s what success looks like.</a:t>
            </a:r>
          </a:p>
          <a:p>
            <a:r>
              <a:rPr sz="2400" dirty="0"/>
              <a:t>This is software engineering applied to AI direction.</a:t>
            </a:r>
          </a:p>
          <a:p>
            <a:r>
              <a:rPr sz="2400" dirty="0"/>
              <a:t>You already know how to do this. You’re just doing it with a new kind of collaborator.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Skill 4: Iterative Refinement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Moving from 70% to 95% through structured passes.</a:t>
            </a:r>
          </a:p>
          <a:p>
            <a:r>
              <a:rPr sz="2400" dirty="0"/>
              <a:t>The 101 user: accepts the first output (AI slop) OR abandons the effort entirely.</a:t>
            </a:r>
          </a:p>
          <a:p>
            <a:r>
              <a:rPr sz="2400" dirty="0"/>
              <a:t>The 201 user: treats the first output as a starting point</a:t>
            </a:r>
          </a:p>
          <a:p>
            <a:pPr lvl="1"/>
            <a:r>
              <a:rPr sz="2400" dirty="0"/>
              <a:t>You wouldn’t accept an intern’s first draft as the final deliverable. Same principle.</a:t>
            </a:r>
          </a:p>
          <a:p>
            <a:r>
              <a:rPr sz="2400" dirty="0"/>
              <a:t>How to iterate — structured passes, not just “make it better”:</a:t>
            </a:r>
          </a:p>
          <a:p>
            <a:pPr lvl="1"/>
            <a:r>
              <a:rPr sz="2400" dirty="0"/>
              <a:t>Fix the structure first, then the logic, then the details</a:t>
            </a:r>
          </a:p>
          <a:p>
            <a:endParaRPr sz="2400" dirty="0"/>
          </a:p>
          <a:p>
            <a:r>
              <a:rPr sz="2400" dirty="0"/>
              <a:t>Iteration is the mechanism that converts plausible output into quality output.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Skill 5: Workflow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 lnSpcReduction="10000"/>
          </a:bodyPr>
          <a:lstStyle/>
          <a:p>
            <a:r>
              <a:rPr sz="2400" dirty="0"/>
              <a:t>Embedding AI into how work actually gets done, not treating it as a side activity.</a:t>
            </a:r>
          </a:p>
          <a:p>
            <a:endParaRPr sz="2400" dirty="0"/>
          </a:p>
          <a:p>
            <a:r>
              <a:rPr sz="2400" dirty="0"/>
              <a:t>The difference shows up in one question:</a:t>
            </a:r>
          </a:p>
          <a:p>
            <a:pPr lvl="1"/>
            <a:r>
              <a:rPr sz="2400" dirty="0"/>
              <a:t>Is AI a separate thing you try later?</a:t>
            </a:r>
          </a:p>
          <a:p>
            <a:pPr lvl="1"/>
            <a:r>
              <a:rPr sz="2400" dirty="0"/>
              <a:t>Or is it just how we do this now?</a:t>
            </a:r>
          </a:p>
          <a:p>
            <a:r>
              <a:rPr sz="2400" dirty="0"/>
              <a:t>Teams that get there describe the shift the same way:</a:t>
            </a:r>
          </a:p>
          <a:p>
            <a:pPr lvl="1"/>
            <a:r>
              <a:rPr sz="2400" dirty="0"/>
              <a:t>“We went from ‘some people use it sometimes’ to ‘this is just how we do RFP responses now. We have a playbook and new hires just learn it.’”</a:t>
            </a:r>
          </a:p>
          <a:p>
            <a:r>
              <a:rPr sz="2400" dirty="0"/>
              <a:t>The power is when AI is part of the pipeline — not an occasional window you open when you remember to.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Skill 6: Frontier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Knowing when you’re operating outside AI’s capability boundary.</a:t>
            </a:r>
          </a:p>
          <a:p>
            <a:r>
              <a:rPr sz="2400" dirty="0"/>
              <a:t>This is the skill that prevents the 19-percentage-point performance drop.</a:t>
            </a:r>
          </a:p>
          <a:p>
            <a:r>
              <a:rPr sz="2400" dirty="0"/>
              <a:t>BCG study: consultants using AI outside its capability frontier were not just missing gains —</a:t>
            </a:r>
          </a:p>
          <a:p>
            <a:r>
              <a:rPr sz="2400" dirty="0"/>
              <a:t>they were actively producing worse results than working without AI at all.</a:t>
            </a:r>
          </a:p>
          <a:p>
            <a:r>
              <a:rPr sz="2400" dirty="0"/>
              <a:t>Requires:</a:t>
            </a:r>
          </a:p>
          <a:p>
            <a:pPr lvl="1"/>
            <a:r>
              <a:rPr sz="2400" dirty="0"/>
              <a:t>Building explicit knowledge of where AI excels vs. fails for your particular work</a:t>
            </a:r>
          </a:p>
          <a:p>
            <a:pPr lvl="1"/>
            <a:r>
              <a:rPr sz="2400" dirty="0"/>
              <a:t>Sharing failure cases so the team learns the boundaries together</a:t>
            </a:r>
          </a:p>
          <a:p>
            <a:r>
              <a:rPr sz="2400" dirty="0"/>
              <a:t>Map the frontier. Create guard rails. Enable others to work safely inside the boundaries.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Cognitive Debt Warning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MIT Media Lab study (</a:t>
            </a:r>
            <a:r>
              <a:rPr sz="2400" dirty="0" err="1"/>
              <a:t>Kosmyna</a:t>
            </a:r>
            <a:r>
              <a:rPr sz="2400" dirty="0"/>
              <a:t> et al., 2025–2026): 54 participants, three groups</a:t>
            </a:r>
          </a:p>
          <a:p>
            <a:r>
              <a:rPr sz="2400" dirty="0"/>
              <a:t>The ChatGPT group produced essays that scored higher on quality metrics.</a:t>
            </a:r>
          </a:p>
          <a:p>
            <a:r>
              <a:rPr sz="2400" dirty="0"/>
              <a:t>They also showed dramatically reduced neural connectivity across all frequency bands.</a:t>
            </a:r>
          </a:p>
          <a:p>
            <a:r>
              <a:rPr sz="2400" dirty="0"/>
              <a:t>83% couldn’t recall key points from the essays they had just written.</a:t>
            </a:r>
          </a:p>
          <a:p>
            <a:r>
              <a:rPr sz="2400" dirty="0"/>
              <a:t>“Every time we hand work to a wizard, we lose a chance to develop our own expertise — to build the very judgment we need to evaluate the wizard’s work.” — Ethan Mollick</a:t>
            </a:r>
          </a:p>
          <a:p>
            <a:r>
              <a:rPr sz="2400" dirty="0"/>
              <a:t>The cognitive debt trap is real, measurable at the neurological level, and partially reversible.</a:t>
            </a:r>
          </a:p>
          <a:p>
            <a:r>
              <a:rPr sz="2400" dirty="0"/>
              <a:t>Be the apprentice. Not the audience.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Part 5: Get In the Car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The early adopter window is open. Now.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The early adopter window: “months to low single-digit years.” — Devlin Liles, Chief AI Officer at Improving</a:t>
            </a:r>
          </a:p>
          <a:p>
            <a:r>
              <a:rPr sz="2400" dirty="0"/>
              <a:t>“Should we use AI?” is already the wrong question.</a:t>
            </a:r>
          </a:p>
          <a:p>
            <a:r>
              <a:rPr sz="2400" dirty="0"/>
              <a:t>The organizations that reach AI adoption maturity Rung 4 while the window is open will have competitive advantages that compound over time.</a:t>
            </a:r>
          </a:p>
          <a:p>
            <a:r>
              <a:rPr sz="2400" dirty="0"/>
              <a:t>The developers who learn the 201 skills now, build the harnesses, write the specs, develop the judgment:</a:t>
            </a:r>
          </a:p>
          <a:p>
            <a:r>
              <a:rPr sz="2400" dirty="0"/>
              <a:t>They are the architects of what comes next.</a:t>
            </a:r>
          </a:p>
          <a:p>
            <a:r>
              <a:rPr sz="2400" dirty="0"/>
              <a:t>Not the casualties.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Fork in the Road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 wrap="square">
            <a:normAutofit/>
          </a:bodyPr>
          <a:lstStyle/>
          <a:p>
            <a:r>
              <a:rPr sz="2400" b="1" dirty="0"/>
              <a:t>Option A:</a:t>
            </a:r>
          </a:p>
          <a:p>
            <a:endParaRPr sz="2400" b="1" dirty="0"/>
          </a:p>
          <a:p>
            <a:r>
              <a:rPr sz="2400" dirty="0"/>
              <a:t>Wait for the Tuesday you dread.</a:t>
            </a:r>
          </a:p>
          <a:p>
            <a:endParaRPr sz="2400" dirty="0"/>
          </a:p>
          <a:p>
            <a:r>
              <a:rPr sz="2400" dirty="0"/>
              <a:t>Scan the AI news feed every morning for signs of obsolescence.</a:t>
            </a:r>
          </a:p>
          <a:p>
            <a:endParaRPr sz="2400" dirty="0"/>
          </a:p>
          <a:p>
            <a:r>
              <a:rPr sz="2400" dirty="0"/>
              <a:t>Live in the undefined fear of a vague monster that might or might not arrive.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>
            <a:normAutofit fontScale="85000" lnSpcReduction="10000"/>
          </a:bodyPr>
          <a:lstStyle/>
          <a:p>
            <a:r>
              <a:rPr sz="2400" b="1" dirty="0"/>
              <a:t>Option B:</a:t>
            </a:r>
          </a:p>
          <a:p>
            <a:endParaRPr sz="2400" b="1" dirty="0"/>
          </a:p>
          <a:p>
            <a:r>
              <a:rPr sz="2400" dirty="0"/>
              <a:t>Recognize that the hottest race car in existence just showed up.</a:t>
            </a:r>
          </a:p>
          <a:p>
            <a:endParaRPr sz="2400" dirty="0"/>
          </a:p>
          <a:p>
            <a:r>
              <a:rPr sz="2400" dirty="0"/>
              <a:t>It needs drivers and mechanics who understand software, systems, specifications, and judgment.</a:t>
            </a:r>
          </a:p>
          <a:p>
            <a:endParaRPr sz="2400" dirty="0"/>
          </a:p>
          <a:p>
            <a:r>
              <a:rPr sz="2400" dirty="0"/>
              <a:t>Who can decompose a task, assemble context, and recognize when the frontier runs out.</a:t>
            </a:r>
          </a:p>
          <a:p>
            <a:endParaRPr sz="2400" dirty="0"/>
          </a:p>
          <a:p>
            <a:r>
              <a:rPr sz="2400" dirty="0"/>
              <a:t>That person is already in this room.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Monster Is Fully Visible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60480" cy="54864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oppins"/>
              </a:rPr>
              <a:t>Light 1: Domain knowledge is the hard part. You have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075688"/>
            <a:ext cx="11460480" cy="548640"/>
          </a:xfrm>
          <a:prstGeom prst="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oppins"/>
              </a:rPr>
              <a:t>Light 2: History rewards the deliberate response to compression. Build yours.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734056"/>
            <a:ext cx="11460480" cy="548640"/>
          </a:xfrm>
          <a:prstGeom prst="rect">
            <a:avLst/>
          </a:prstGeom>
          <a:solidFill>
            <a:srgbClr val="5BC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oppins"/>
              </a:rPr>
              <a:t>Light 3: The learning model is broken. Build the new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72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Khula"/>
              </a:rPr>
              <a:t>The monster can write the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72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Khula"/>
              </a:rPr>
              <a:t>The monster cannot understand the business.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72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1A1A2E"/>
                </a:solidFill>
                <a:latin typeface="Khula"/>
              </a:rPr>
              <a:t>The monster cannot develop the next generation of engineers.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72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1A1A2E"/>
                </a:solidFill>
                <a:latin typeface="Khula"/>
              </a:rPr>
              <a:t>The monster cannot evaluate its own work without a human who knows what good looks like.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5623560"/>
            <a:ext cx="6705600" cy="82296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oppins"/>
              </a:rPr>
              <a:t>“Get in the car.”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Contact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Tim Rayburn
Vice President, Improving
11-Time Microsoft MVP
Leads AI Training across 2,000+ consulting professionals
tim.rayburn@improving.com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O-THEME-WIDE-JAN 2026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597D3"/>
      </a:accent1>
      <a:accent2>
        <a:srgbClr val="005596"/>
      </a:accent2>
      <a:accent3>
        <a:srgbClr val="FF9300"/>
      </a:accent3>
      <a:accent4>
        <a:srgbClr val="5BC2A7"/>
      </a:accent4>
      <a:accent5>
        <a:srgbClr val="606060"/>
      </a:accent5>
      <a:accent6>
        <a:srgbClr val="F5BB4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PRESO-THEME-WIDE-JAN 2026</Template>
  <TotalTime>278</TotalTime>
  <Words>3640</Words>
  <Application>Microsoft Macintosh PowerPoint</Application>
  <PresentationFormat>Widescreen</PresentationFormat>
  <Paragraphs>389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Aptos</vt:lpstr>
      <vt:lpstr>Arial</vt:lpstr>
      <vt:lpstr>Calibri</vt:lpstr>
      <vt:lpstr>Century Gothic</vt:lpstr>
      <vt:lpstr>Khula</vt:lpstr>
      <vt:lpstr>Khula SemiBold</vt:lpstr>
      <vt:lpstr>Poppins</vt:lpstr>
      <vt:lpstr>Poppins Medium</vt:lpstr>
      <vt:lpstr>Poppins SemiBold</vt:lpstr>
      <vt:lpstr>Segoe UI</vt:lpstr>
      <vt:lpstr>PRESO-THEME-WIDE-JAN 2026</vt:lpstr>
      <vt:lpstr>Turn On the Lights:
The Real Future of Software Development</vt:lpstr>
      <vt:lpstr>Part 1: The Tuesday</vt:lpstr>
      <vt:lpstr>You Wake Up on a Tuesday</vt:lpstr>
      <vt:lpstr>The Fear Is Rational As a Category</vt:lpstr>
      <vt:lpstr>Tim Rayburn</vt:lpstr>
      <vt:lpstr>Part 2: Turn On the Lights</vt:lpstr>
      <vt:lpstr>Light 1</vt:lpstr>
      <vt:lpstr>Confirm the Strength — Don’t Minimize It</vt:lpstr>
      <vt:lpstr>The Pipeline Nobody Draws</vt:lpstr>
      <vt:lpstr>What Actually Fills the Arrow</vt:lpstr>
      <vt:lpstr>Make the Domain Gap Concrete</vt:lpstr>
      <vt:lpstr>The EARS Insight</vt:lpstr>
      <vt:lpstr>Amazon Kiro: The Lesson Baked Into the Product</vt:lpstr>
      <vt:lpstr>Light 1: The Payoff</vt:lpstr>
      <vt:lpstr>Light 2</vt:lpstr>
      <vt:lpstr>The Binary Question Fails</vt:lpstr>
      <vt:lpstr>The Historical Record</vt:lpstr>
      <vt:lpstr>The Four Fates of Freed Capacity</vt:lpstr>
      <vt:lpstr>Light 2: The Payoff</vt:lpstr>
      <vt:lpstr>Light 3</vt:lpstr>
      <vt:lpstr>The Source</vt:lpstr>
      <vt:lpstr>What They Found</vt:lpstr>
      <vt:lpstr>The Dangerous Default</vt:lpstr>
      <vt:lpstr>The Real Problem Is the Learning Model</vt:lpstr>
      <vt:lpstr>Preceptorship at Scale</vt:lpstr>
      <vt:lpstr>Light 3: Two Messages</vt:lpstr>
      <vt:lpstr>The Full Shape of the Monster</vt:lpstr>
      <vt:lpstr>Part 3: The Race Car</vt:lpstr>
      <vt:lpstr>You Have a Choice</vt:lpstr>
      <vt:lpstr>The Infrastructure IS Developer Work</vt:lpstr>
      <vt:lpstr>Spec as Strategy</vt:lpstr>
      <vt:lpstr>Speed Amplifies Stakes</vt:lpstr>
      <vt:lpstr>Part 4: The 201 Manifesto</vt:lpstr>
      <vt:lpstr>The Training Gap</vt:lpstr>
      <vt:lpstr>Nate Jones &amp; Ethan Mollick</vt:lpstr>
      <vt:lpstr>The Six 201-Level Skills</vt:lpstr>
      <vt:lpstr>Skill 1: Context Assembly</vt:lpstr>
      <vt:lpstr>Skill 2: Quality Judgment</vt:lpstr>
      <vt:lpstr>Skill 3: Task Decomposition</vt:lpstr>
      <vt:lpstr>Skill 4: Iterative Refinement</vt:lpstr>
      <vt:lpstr>Skill 5: Workflow Integration</vt:lpstr>
      <vt:lpstr>Skill 6: Frontier Recognition</vt:lpstr>
      <vt:lpstr>The Cognitive Debt Warning</vt:lpstr>
      <vt:lpstr>Part 5: Get In the Car</vt:lpstr>
      <vt:lpstr>The Window</vt:lpstr>
      <vt:lpstr>The Fork in the Road</vt:lpstr>
      <vt:lpstr>The Monster Is Fully Visible Now</vt:lpstr>
      <vt:lpstr>Contact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Rayburn</dc:creator>
  <cp:lastModifiedBy>Tim Rayburn</cp:lastModifiedBy>
  <cp:revision>3</cp:revision>
  <dcterms:created xsi:type="dcterms:W3CDTF">2026-03-24T14:12:38Z</dcterms:created>
  <dcterms:modified xsi:type="dcterms:W3CDTF">2026-06-26T03:25:58Z</dcterms:modified>
</cp:coreProperties>
</file>